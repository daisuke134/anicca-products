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971550"/>
            <a:ext cx="5570169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課題A｜グローバル市場向けプロダクト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124092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456730"/>
            <a:ext cx="5570169" cy="101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C9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</a:t>
            </a:r>
            <a:pPr algn="l" indent="0" marL="0">
              <a:lnSpc>
                <a:spcPts val="3990"/>
              </a:lnSpc>
              <a:buNone/>
            </a:pPr>
            <a:endParaRPr lang="en-US" sz="3800" dirty="0"/>
          </a:p>
          <a:p>
            <a:pPr algn="l" indent="0" marL="0">
              <a:lnSpc>
                <a:spcPts val="3990"/>
              </a:lnSpc>
              <a:buNone/>
            </a:pPr>
            <a:r>
              <a:rPr lang="en-US" sz="38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31750" y="2673400"/>
            <a:ext cx="5570169" cy="61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spcBef>
                <a:spcPts val="1600"/>
              </a:spcBef>
              <a:buNone/>
            </a:pPr>
            <a:r>
              <a:rPr lang="en-US" sz="19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意志力ではなく、
</a:t>
            </a:r>
            <a:pPr algn="l" indent="0" marL="0">
              <a:lnSpc>
                <a:spcPts val="2432"/>
              </a:lnSpc>
              <a:spcBef>
                <a:spcPts val="1600"/>
              </a:spcBef>
              <a:buNone/>
            </a:pPr>
            <a:r>
              <a:rPr lang="en-US" sz="19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あなたの代わりに動く。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31750" y="3519339"/>
            <a:ext cx="557016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spcBef>
                <a:spcPts val="1800"/>
              </a:spcBef>
              <a:buNone/>
            </a:pPr>
            <a:r>
              <a:rPr lang="en-US" sz="1100" dirty="0">
                <a:solidFill>
                  <a:srgbClr val="BFB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安全に実行する、プロアクティブAIライフマネージャー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1750" y="4059287"/>
            <a:ext cx="5570169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2800"/>
              </a:spcBef>
              <a:buNone/>
            </a:pPr>
            <a:r>
              <a:rPr lang="en-US" sz="9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成田大祐｜個人応募｜NAIST 情報科学領域 修士課程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24451" y="1460450"/>
            <a:ext cx="2260550" cy="2260550"/>
          </a:xfrm>
          <a:prstGeom prst="roundRect">
            <a:avLst>
              <a:gd name="adj" fmla="val 40450"/>
            </a:avLst>
          </a:prstGeom>
          <a:solidFill>
            <a:srgbClr val="1B1B1B"/>
          </a:solidFill>
          <a:ln w="9525">
            <a:solidFill>
              <a:srgbClr val="453A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anicca/anicca-project/docs/applications/utokyo-entrepreneurship-2026/assets/anicc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452" y="1752451"/>
            <a:ext cx="1676400" cy="1676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5036121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5036121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予定はある。</a:t>
            </a:r>
            <a:endParaRPr lang="en-US" sz="2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でも、人は予定どおりに動けない。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742182"/>
            <a:ext cx="4013299" cy="959048"/>
          </a:xfrm>
          <a:prstGeom prst="roundRect">
            <a:avLst>
              <a:gd name="adj" fmla="val 11918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945332"/>
            <a:ext cx="3679138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「支えてくれる道具」ではなく、</a:t>
            </a:r>
            <a:endParaRPr lang="en-US" sz="1700" dirty="0"/>
          </a:p>
          <a:p>
            <a:pPr algn="l" indent="0" marL="0">
              <a:lnSpc>
                <a:spcPts val="2176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先に動いて導く存在が必要だった。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1750" y="4285506"/>
            <a:ext cx="4093565" cy="55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私は起床・移動・瞑想を何度も習慣化しようとして失敗した。カレンダー、習慣アプリ、対話AIは、私が開くまで何もしない。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1742182"/>
            <a:ext cx="4013299" cy="753070"/>
          </a:xfrm>
          <a:prstGeom prst="roundRect">
            <a:avLst>
              <a:gd name="adj" fmla="val 1349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3526" y="1916757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反応型の限界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2169914"/>
            <a:ext cx="373743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通知を見ても、行動に移るとは限らない。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8950" y="2609552"/>
            <a:ext cx="4013299" cy="753070"/>
          </a:xfrm>
          <a:prstGeom prst="roundRect">
            <a:avLst>
              <a:gd name="adj" fmla="val 1349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3526" y="2784128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実行権限の空白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526" y="3037284"/>
            <a:ext cx="373743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AIに任せたい一方、カードや認証情報の丸投げは危険。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98950" y="3476923"/>
            <a:ext cx="4013299" cy="753070"/>
          </a:xfrm>
          <a:prstGeom prst="roundRect">
            <a:avLst>
              <a:gd name="adj" fmla="val 1349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3526" y="3651498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行動の証拠が残らない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526" y="3904655"/>
            <a:ext cx="373743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何を、なぜ、いくらで実行したかを後から検証しにくい。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4721278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4721278" cy="34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最初は「遅刻する創業者」に絞る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297781"/>
            <a:ext cx="3111401" cy="3540919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5575" y="2444353"/>
            <a:ext cx="2921026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忙しい創業者・</a:t>
            </a:r>
            <a:endParaRPr lang="en-US" sz="26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知識労働者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5575" y="3289995"/>
            <a:ext cx="2921026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カレンダーは使うが、起床・出発・切替が遅れ、重要な約束を落とす人。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95551" y="1297781"/>
            <a:ext cx="5016698" cy="1104007"/>
          </a:xfrm>
          <a:prstGeom prst="roundRect">
            <a:avLst>
              <a:gd name="adj" fmla="val 9203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9376" y="1421606"/>
            <a:ext cx="486442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819376" y="1866156"/>
            <a:ext cx="486442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移動時間を毎回調べる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9376" y="2106662"/>
            <a:ext cx="4864429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予定に場所がなく、準備・移動枠もない。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95551" y="2516088"/>
            <a:ext cx="5016698" cy="1104156"/>
          </a:xfrm>
          <a:prstGeom prst="roundRect">
            <a:avLst>
              <a:gd name="adj" fmla="val 920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9376" y="2639913"/>
            <a:ext cx="486442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3819376" y="3084463"/>
            <a:ext cx="486442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通知を無視する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19376" y="3324969"/>
            <a:ext cx="4864429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情報は届くが、身体は動かない。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95551" y="3734544"/>
            <a:ext cx="5016698" cy="1104156"/>
          </a:xfrm>
          <a:prstGeom prst="roundRect">
            <a:avLst>
              <a:gd name="adj" fmla="val 920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19376" y="3858369"/>
            <a:ext cx="4864429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3819376" y="4302919"/>
            <a:ext cx="486442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遅刻連絡まで遅れる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19376" y="4543425"/>
            <a:ext cx="4864429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相手への説明・連絡も本人の負担になる。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4091744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TODAY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4091744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Managerが予定を読み、</a:t>
            </a:r>
            <a:endParaRPr lang="en-US" sz="2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Aniccaが人を動かす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742182"/>
            <a:ext cx="4191000" cy="23622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anicca/anicca-project/docs/applications/utokyo-entrepreneurship-2026/assets/life-manager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275" y="1751707"/>
            <a:ext cx="4171950" cy="2343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1750" y="4180582"/>
            <a:ext cx="4274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実稼働画面：aniccaai.com/life-manager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825901" y="1742182"/>
            <a:ext cx="3886349" cy="740420"/>
          </a:xfrm>
          <a:prstGeom prst="roundRect">
            <a:avLst>
              <a:gd name="adj" fmla="val 1372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00476" y="1916757"/>
            <a:ext cx="36079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00476" y="2157264"/>
            <a:ext cx="360794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物理予定の移動・準備時間を自動挿入。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25901" y="2584103"/>
            <a:ext cx="3886349" cy="740420"/>
          </a:xfrm>
          <a:prstGeom prst="roundRect">
            <a:avLst>
              <a:gd name="adj" fmla="val 1372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00476" y="2758678"/>
            <a:ext cx="36079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00476" y="2999184"/>
            <a:ext cx="360794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出発10分前・5分前に段階的に呼びかける。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25901" y="3426023"/>
            <a:ext cx="3886349" cy="740420"/>
          </a:xfrm>
          <a:prstGeom prst="roundRect">
            <a:avLst>
              <a:gd name="adj" fmla="val 1372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000476" y="3600599"/>
            <a:ext cx="36079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00476" y="3841105"/>
            <a:ext cx="3607942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場所確認、遅刻確認、実行後の報告。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25901" y="4267944"/>
            <a:ext cx="3886349" cy="555427"/>
          </a:xfrm>
          <a:prstGeom prst="roundRect">
            <a:avLst>
              <a:gd name="adj" fmla="val 20579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78301" y="4394895"/>
            <a:ext cx="365318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Anicca統合：</a:t>
            </a:r>
            <a:pPr algn="l" indent="0" marL="0">
              <a:lnSpc>
                <a:spcPts val="1187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起床・集中・瞑想・不安など、13種類の行動変容ナッジを生活文脈に合わせる。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4406586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4406586" cy="34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開かなくても、人生が前に進む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399431"/>
            <a:ext cx="1382018" cy="304294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8226" y="156135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1604" y="1636365"/>
            <a:ext cx="7210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8226" y="1993106"/>
            <a:ext cx="113124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予定を読む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8226" y="2271713"/>
            <a:ext cx="1131249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場所・移動時間・本人の行動傾向を推定。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0770" y="2769989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6371" y="1399431"/>
            <a:ext cx="1382018" cy="304294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92846" y="156135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16225" y="1636365"/>
            <a:ext cx="7210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92846" y="1993106"/>
            <a:ext cx="113124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先回りする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92846" y="2271713"/>
            <a:ext cx="1131249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準備枠を追加し、出発前に電話する。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95390" y="2769989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80991" y="1399431"/>
            <a:ext cx="1382018" cy="304294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17466" y="156135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40845" y="1636365"/>
            <a:ext cx="7210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17466" y="1993106"/>
            <a:ext cx="113124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身体を動かす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17466" y="2271713"/>
            <a:ext cx="1131249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Aniccaが今の状態に合う短い指示を出す。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20010" y="2769989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05611" y="1399431"/>
            <a:ext cx="1382018" cy="304294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42087" y="156135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65465" y="1636365"/>
            <a:ext cx="7210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42087" y="1993106"/>
            <a:ext cx="113124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代わりに処理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42087" y="2271713"/>
            <a:ext cx="1131249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遅刻連絡や小額支払いを権限内で実行。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4630" y="2769989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30232" y="1399431"/>
            <a:ext cx="1382018" cy="304294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66707" y="156135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90086" y="1636365"/>
            <a:ext cx="72107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66707" y="1993106"/>
            <a:ext cx="1131249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証跡を返す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66707" y="2271713"/>
            <a:ext cx="1131249" cy="452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何をしたか、金額、理由、取消手段を報告。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1750" y="4594771"/>
            <a:ext cx="958453" cy="243929"/>
          </a:xfrm>
          <a:prstGeom prst="roundRect">
            <a:avLst>
              <a:gd name="adj" fmla="val 104129"/>
            </a:avLst>
          </a:prstGeom>
          <a:solidFill>
            <a:srgbClr val="EE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3251" y="4645521"/>
            <a:ext cx="770561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564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アプリ起動不要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42455" y="4594771"/>
            <a:ext cx="742652" cy="243929"/>
          </a:xfrm>
          <a:prstGeom prst="roundRect">
            <a:avLst>
              <a:gd name="adj" fmla="val 104129"/>
            </a:avLst>
          </a:prstGeom>
          <a:solidFill>
            <a:srgbClr val="EE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43955" y="4645521"/>
            <a:ext cx="550444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564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質問は最小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437358" y="4594771"/>
            <a:ext cx="850553" cy="243929"/>
          </a:xfrm>
          <a:prstGeom prst="roundRect">
            <a:avLst>
              <a:gd name="adj" fmla="val 104129"/>
            </a:avLst>
          </a:prstGeom>
          <a:solidFill>
            <a:srgbClr val="EE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38859" y="4645521"/>
            <a:ext cx="660502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564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実行後に報告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40162" y="4594771"/>
            <a:ext cx="850553" cy="243929"/>
          </a:xfrm>
          <a:prstGeom prst="roundRect">
            <a:avLst>
              <a:gd name="adj" fmla="val 104129"/>
            </a:avLst>
          </a:prstGeom>
          <a:solidFill>
            <a:srgbClr val="EE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541663" y="4645521"/>
            <a:ext cx="660502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564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いつでも取消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7254139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BLOCKCHAIN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725413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秘密鍵を渡さない</a:t>
            </a:r>
            <a:endParaRPr lang="en-US" sz="210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渡すのは限定権限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632645"/>
            <a:ext cx="4013299" cy="3206055"/>
          </a:xfrm>
          <a:prstGeom prst="roundRect">
            <a:avLst>
              <a:gd name="adj" fmla="val 3565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2489448"/>
            <a:ext cx="3679138" cy="16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796480"/>
            <a:ext cx="367913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100"/>
              </a:spcBef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「7日間、交通と健康に</a:t>
            </a:r>
            <a:endParaRPr lang="en-US" sz="2600" dirty="0"/>
          </a:p>
          <a:p>
            <a:pPr algn="l" indent="0" marL="0">
              <a:lnSpc>
                <a:spcPts val="2730"/>
              </a:lnSpc>
              <a:spcBef>
                <a:spcPts val="1100"/>
              </a:spcBef>
              <a:buNone/>
            </a:pPr>
            <a:r>
              <a:rPr 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合計50ドルまで」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4901" y="3680222"/>
            <a:ext cx="3679138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1500"/>
              </a:spcBef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用途・上限・期限・相手先をスマートアカウント側で強制し、いつでも失効できる。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98950" y="1632645"/>
            <a:ext cx="4013299" cy="740420"/>
          </a:xfrm>
          <a:prstGeom prst="roundRect">
            <a:avLst>
              <a:gd name="adj" fmla="val 1372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3526" y="1807220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安全な代理実行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526" y="2047726"/>
            <a:ext cx="373743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権限を狭くし、本人が不在でも条件内だけ実行。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950" y="2487364"/>
            <a:ext cx="4013299" cy="740420"/>
          </a:xfrm>
          <a:prstGeom prst="roundRect">
            <a:avLst>
              <a:gd name="adj" fmla="val 13722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3526" y="2661940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グローバルな小額決済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526" y="2902446"/>
            <a:ext cx="3737431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ステーブルコインとx402で、国境を越えたサービス購入を即時化。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8950" y="3342084"/>
            <a:ext cx="4013299" cy="891183"/>
          </a:xfrm>
          <a:prstGeom prst="roundRect">
            <a:avLst>
              <a:gd name="adj" fmla="val 1140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3516660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検証可能な証跡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526" y="3757166"/>
            <a:ext cx="3737431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個人データは非公開のまま、権限・支払い・取消を監査可能にする。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8950" y="4347567"/>
            <a:ext cx="4093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実装対象：ERC-4337型スマートアカウント、ERC-7715型権限要求、x402決済。規格選定はプログラム内で検証。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1750" y="4882158"/>
            <a:ext cx="3329836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8"/>
              </a:lnSpc>
              <a:buNone/>
            </a:pPr>
            <a:r>
              <a:rPr lang="en-US" sz="65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出典：eips.ethereum.org/EIPS/eip-4337 ｜ eips.ethereum.org/EIPS/eip-7715 ｜ x402.org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7239262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7239262" cy="34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秘密の生活文脈と、公開できる権限証跡を分離する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399431"/>
            <a:ext cx="2349401" cy="343926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6326" y="1574006"/>
            <a:ext cx="2040255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CONTEXT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6326" y="1843385"/>
            <a:ext cx="204025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Managerクラウド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6326" y="2160091"/>
            <a:ext cx="2000250" cy="603052"/>
          </a:xfrm>
          <a:prstGeom prst="rect">
            <a:avLst/>
          </a:prstGeom>
          <a:noFill/>
          <a:ln/>
        </p:spPr>
        <p:txBody>
          <a:bodyPr wrap="square" lIns="107950" tIns="0" rIns="0" bIns="0" rtlCol="0" anchor="t"/>
          <a:lstStyle/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カレンダー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位置・移動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会話・気分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Anicca行動モデル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6326" y="2915543"/>
            <a:ext cx="204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個人データはチェーンに載せない。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63602" y="2968228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74653" y="1399431"/>
            <a:ext cx="2412950" cy="3439269"/>
          </a:xfrm>
          <a:prstGeom prst="roundRect">
            <a:avLst>
              <a:gd name="adj" fmla="val 4737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7803" y="1602581"/>
            <a:ext cx="2046783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4D3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77803" y="1871960"/>
            <a:ext cx="2046783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7803" y="2232422"/>
            <a:ext cx="2006650" cy="603052"/>
          </a:xfrm>
          <a:prstGeom prst="rect">
            <a:avLst/>
          </a:prstGeom>
          <a:noFill/>
          <a:ln/>
        </p:spPr>
        <p:txBody>
          <a:bodyPr wrap="square" lIns="107950" tIns="0" rIns="0" bIns="0" rtlCol="0" anchor="t"/>
          <a:lstStyle/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金額上限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期限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許可先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77803" y="2975074"/>
            <a:ext cx="2046783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1100"/>
              </a:spcBef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違反する実行は通らない。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70054" y="2968228"/>
            <a:ext cx="233172" cy="3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1800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81105" y="1399431"/>
            <a:ext cx="2349401" cy="343926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5680" y="1574006"/>
            <a:ext cx="2040255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EXECUTION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55680" y="1843385"/>
            <a:ext cx="2040255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ウォレット＋x402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55680" y="2160091"/>
            <a:ext cx="2000250" cy="603052"/>
          </a:xfrm>
          <a:prstGeom prst="rect">
            <a:avLst/>
          </a:prstGeom>
          <a:noFill/>
          <a:ln/>
        </p:spPr>
        <p:txBody>
          <a:bodyPr wrap="square" lIns="107950" tIns="0" rIns="0" bIns="0" rtlCol="0" anchor="t"/>
          <a:lstStyle/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交通・予約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健康サービス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AI/API購入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実行レシート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55680" y="2915543"/>
            <a:ext cx="204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加盟店ごとのアカウント登録を減らす。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4406586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+ 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4406586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まず「遅刻しない」に課金し、</a:t>
            </a:r>
            <a:endParaRPr lang="en-US" sz="2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行動成果から広げる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742182"/>
            <a:ext cx="4013299" cy="1181249"/>
          </a:xfrm>
          <a:prstGeom prst="roundRect">
            <a:avLst>
              <a:gd name="adj" fmla="val 9676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945332"/>
            <a:ext cx="3679138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4901" y="2159496"/>
            <a:ext cx="367913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20ドル／月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4901" y="2569518"/>
            <a:ext cx="3679138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電話・Telegram・カレンダー・実行権限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1750" y="3037731"/>
            <a:ext cx="4013299" cy="891183"/>
          </a:xfrm>
          <a:prstGeom prst="roundRect">
            <a:avLst>
              <a:gd name="adj" fmla="val 1140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6326" y="3212306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無料導線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6326" y="3452813"/>
            <a:ext cx="3737431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同じ中核をローカル版OSSとして提供し、信頼と開発者流入を得る。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950" y="1742182"/>
            <a:ext cx="1955899" cy="944463"/>
          </a:xfrm>
          <a:prstGeom prst="roundRect">
            <a:avLst>
              <a:gd name="adj" fmla="val 10757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3526" y="1916757"/>
            <a:ext cx="163888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873526" y="2361307"/>
            <a:ext cx="1638883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クラウド版・実電話・移動枠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56350" y="1742182"/>
            <a:ext cx="1955899" cy="944463"/>
          </a:xfrm>
          <a:prstGeom prst="roundRect">
            <a:avLst>
              <a:gd name="adj" fmla="val 10757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30926" y="1916757"/>
            <a:ext cx="1638883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6930926" y="2361307"/>
            <a:ext cx="1638883" cy="15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6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 iOSの月次経常収益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8950" y="2788146"/>
            <a:ext cx="4013299" cy="1080046"/>
          </a:xfrm>
          <a:prstGeom prst="roundRect">
            <a:avLst>
              <a:gd name="adj" fmla="val 9407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3526" y="2962721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検証する仮説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526" y="3241328"/>
            <a:ext cx="3664148" cy="452289"/>
          </a:xfrm>
          <a:prstGeom prst="rect">
            <a:avLst/>
          </a:prstGeom>
          <a:noFill/>
          <a:ln/>
        </p:spPr>
        <p:txBody>
          <a:bodyPr wrap="square" lIns="107950" tIns="0" rIns="0" bIns="0" rtlCol="0" anchor="t"/>
          <a:lstStyle/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週3回以上の先回り介入で遅刻率が半減する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上限付き委任はクレジットカード共有より信頼される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月20ドルでも3か月継続する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98950" y="3969693"/>
            <a:ext cx="4093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注：月次経常収益は aniccaai.com/dashboard.json の公開値（更新時点 2026-06-05）。Life Managerの外部有料ユーザーはまだゼロ。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42900"/>
            <a:ext cx="7254139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+ TEAM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31750" y="612279"/>
            <a:ext cx="660350" cy="50750"/>
          </a:xfrm>
          <a:prstGeom prst="rect">
            <a:avLst/>
          </a:prstGeom>
          <a:solidFill>
            <a:srgbClr val="C99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828080"/>
            <a:ext cx="725413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最終発表</a:t>
            </a:r>
            <a:endParaRPr lang="en-US" sz="210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委任・決済・取消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749" y="342900"/>
            <a:ext cx="482501" cy="482501"/>
          </a:xfrm>
          <a:prstGeom prst="roundRect">
            <a:avLst>
              <a:gd name="adj" fmla="val 189513"/>
            </a:avLst>
          </a:prstGeom>
          <a:noFill/>
          <a:ln w="19050">
            <a:solidFill>
              <a:srgbClr val="C99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21439" y="466725"/>
            <a:ext cx="100950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750" y="1632645"/>
            <a:ext cx="4013299" cy="1243459"/>
          </a:xfrm>
          <a:prstGeom prst="roundRect">
            <a:avLst>
              <a:gd name="adj" fmla="val 8171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6326" y="1807220"/>
            <a:ext cx="3737431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6326" y="2098477"/>
            <a:ext cx="3664148" cy="603052"/>
          </a:xfrm>
          <a:prstGeom prst="rect">
            <a:avLst/>
          </a:prstGeom>
          <a:noFill/>
          <a:ln/>
        </p:spPr>
        <p:txBody>
          <a:bodyPr wrap="square" lIns="107950" tIns="0" rIns="0" bIns="0" rtlCol="0" anchor="t"/>
          <a:lstStyle/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ユーザーが7日・50ドルの権限を設定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予定からジム体験を選び、予約・支払い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Aniccaが電話で行動を促す</a:t>
            </a:r>
            <a:endParaRPr lang="en-US" sz="950" dirty="0"/>
          </a:p>
          <a:p>
            <a:pPr algn="l" marL="107950" indent="-107950">
              <a:lnSpc>
                <a:spcPts val="1187"/>
              </a:lnSpc>
              <a:buSzPct val="100000"/>
              <a:buChar char="•"/>
            </a:pPr>
            <a:r>
              <a:rPr lang="en-US" sz="9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レシート表示後、権限を即時取消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1750" y="2990404"/>
            <a:ext cx="4013299" cy="580727"/>
          </a:xfrm>
          <a:prstGeom prst="roundRect">
            <a:avLst>
              <a:gd name="adj" fmla="val 19682"/>
            </a:avLst>
          </a:prstGeom>
          <a:solidFill>
            <a:srgbClr val="D7AE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3130004"/>
            <a:ext cx="380878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このプログラムで得たいこと：</a:t>
            </a:r>
            <a:pPr algn="l" indent="0" marL="0">
              <a:lnSpc>
                <a:spcPts val="1187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ウォレット権限設計、決済・規制、脅威モデル、実ユーザー検証の壁打ち。</a:t>
            </a:r>
            <a:endParaRPr lang="en-US" sz="950" dirty="0"/>
          </a:p>
        </p:txBody>
      </p:sp>
      <p:pic>
        <p:nvPicPr>
          <p:cNvPr id="12" name="Image 0" descr="/Users/anicca/anicca-project/docs/applications/utokyo-entrepreneurship-2026/assets/dais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950" y="2372023"/>
            <a:ext cx="1320701" cy="17271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72051" y="2385715"/>
            <a:ext cx="2591002" cy="14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50" b="1" dirty="0">
                <a:solidFill>
                  <a:srgbClr val="A97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個人応募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051" y="2604343"/>
            <a:ext cx="2591002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成田大祐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72051" y="2956024"/>
            <a:ext cx="2591002" cy="75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慶應義塾大学 法学部卒</a:t>
            </a:r>
            <a:endParaRPr lang="en-US" sz="950" dirty="0"/>
          </a:p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NAIST 情報科学領域 修士課程</a:t>
            </a:r>
            <a:endParaRPr lang="en-US" sz="950" dirty="0"/>
          </a:p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修士研究：注意散漫検出と行動変容</a:t>
            </a:r>
            <a:endParaRPr lang="en-US" sz="950" dirty="0"/>
          </a:p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MUITで業務AI導入</a:t>
            </a:r>
            <a:endParaRPr lang="en-US" sz="950" dirty="0"/>
          </a:p>
          <a:p>
            <a:pPr algn="l" indent="0" marL="0">
              <a:lnSpc>
                <a:spcPts val="1187"/>
              </a:lnSpc>
              <a:spcBef>
                <a:spcPts val="700"/>
              </a:spcBef>
              <a:buNone/>
            </a:pPr>
            <a:r>
              <a:rPr lang="en-US" sz="950" dirty="0">
                <a:solidFill>
                  <a:srgbClr val="68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Aniccaを一人で開発・運用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051" y="3811339"/>
            <a:ext cx="259100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既に動く生活エージェントへ、</a:t>
            </a:r>
            <a:endParaRPr lang="en-US" sz="900" dirty="0"/>
          </a:p>
          <a:p>
            <a:pPr algn="l" indent="0" marL="0">
              <a:lnSpc>
                <a:spcPts val="108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安全な実行権限を。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40341" y="4861173"/>
            <a:ext cx="277347" cy="11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700" dirty="0">
                <a:solidFill>
                  <a:srgbClr val="8E8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Anicca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Anicca Life Manager</dc:title>
  <dc:subject>UTokyo Blockchain Entrepreneurship Support Program 2026</dc:subject>
  <dc:creator>Daisuke Narita</dc:creator>
  <cp:lastModifiedBy>Daisuke Narita</cp:lastModifiedBy>
  <cp:revision>1</cp:revision>
  <dcterms:created xsi:type="dcterms:W3CDTF">2026-07-22T12:21:03Z</dcterms:created>
  <dcterms:modified xsi:type="dcterms:W3CDTF">2026-07-22T12:21:03Z</dcterms:modified>
</cp:coreProperties>
</file>