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03150" y="177701"/>
            <a:ext cx="3115032" cy="2799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05"/>
              </a:lnSpc>
              <a:buNone/>
            </a:pPr>
            <a:r>
              <a:rPr lang="en-US" sz="2100" b="1" dirty="0">
                <a:solidFill>
                  <a:srgbClr val="C99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Anicca</a:t>
            </a:r>
            <a:pPr algn="l" indent="0" marL="0">
              <a:lnSpc>
                <a:spcPts val="2205"/>
              </a:lnSpc>
              <a:buNone/>
            </a:pPr>
            <a:r>
              <a:rPr lang="en-US" sz="2100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Life Manager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203150" y="457646"/>
            <a:ext cx="3115032" cy="1340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6"/>
              </a:lnSpc>
              <a:buNone/>
            </a:pPr>
            <a:r>
              <a:rPr lang="en-US" sz="800" dirty="0">
                <a:solidFill>
                  <a:srgbClr val="6864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Hackathon Canvas｜課題A：グローバル市場｜個人応募：成田大祐</a:t>
            </a:r>
            <a:endParaRPr lang="en-US" sz="800" dirty="0"/>
          </a:p>
        </p:txBody>
      </p:sp>
      <p:pic>
        <p:nvPicPr>
          <p:cNvPr id="4" name="Image 0" descr="/Users/anicca/anicca-project/docs/applications/utokyo-entrepreneurship-2026/assets/anicca-ic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85299" y="206871"/>
            <a:ext cx="355550" cy="35555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03150" y="655141"/>
            <a:ext cx="1625501" cy="1549301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9525">
            <a:solidFill>
              <a:srgbClr val="CFC7B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3"/>
          <p:cNvSpPr/>
          <p:nvPr/>
        </p:nvSpPr>
        <p:spPr>
          <a:xfrm>
            <a:off x="301526" y="753517"/>
            <a:ext cx="1457325" cy="13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93"/>
              </a:lnSpc>
              <a:spcAft>
                <a:spcPts val="400"/>
              </a:spcAft>
              <a:buNone/>
            </a:pPr>
            <a:r>
              <a:rPr lang="en-US" sz="950" b="1" dirty="0">
                <a:solidFill>
                  <a:srgbClr val="8A64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課題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301526" y="942975"/>
            <a:ext cx="1428750" cy="561826"/>
          </a:xfrm>
          <a:prstGeom prst="rect">
            <a:avLst/>
          </a:prstGeom>
          <a:noFill/>
          <a:ln/>
        </p:spPr>
        <p:txBody>
          <a:bodyPr wrap="square" lIns="63500" tIns="0" rIns="0" bIns="0" rtlCol="0" anchor="t"/>
          <a:lstStyle/>
          <a:p>
            <a:pPr algn="l" marL="63500" indent="-63500">
              <a:lnSpc>
                <a:spcPts val="886"/>
              </a:lnSpc>
              <a:buSzPct val="100000"/>
              <a:buChar char="•"/>
            </a:pPr>
            <a:r>
              <a:rPr lang="en-US" sz="720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カレンダーがあっても人は動けない</a:t>
            </a:r>
            <a:endParaRPr lang="en-US" sz="720" dirty="0"/>
          </a:p>
          <a:p>
            <a:pPr algn="l" marL="63500" indent="-63500">
              <a:lnSpc>
                <a:spcPts val="886"/>
              </a:lnSpc>
              <a:buSzPct val="100000"/>
              <a:buChar char="•"/>
            </a:pPr>
            <a:r>
              <a:rPr lang="en-US" sz="720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AIに決済権限を丸投げできない</a:t>
            </a:r>
            <a:endParaRPr lang="en-US" sz="720" dirty="0"/>
          </a:p>
          <a:p>
            <a:pPr algn="l" marL="63500" indent="-63500">
              <a:lnSpc>
                <a:spcPts val="886"/>
              </a:lnSpc>
              <a:buSzPct val="100000"/>
              <a:buChar char="•"/>
            </a:pPr>
            <a:r>
              <a:rPr lang="en-US" sz="720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代理実行の理由・金額を検証できない</a:t>
            </a:r>
            <a:endParaRPr lang="en-US" sz="720" dirty="0"/>
          </a:p>
        </p:txBody>
      </p:sp>
      <p:sp>
        <p:nvSpPr>
          <p:cNvPr id="8" name="Text 5"/>
          <p:cNvSpPr/>
          <p:nvPr/>
        </p:nvSpPr>
        <p:spPr>
          <a:xfrm>
            <a:off x="1879402" y="655141"/>
            <a:ext cx="1625501" cy="1549301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9525">
            <a:solidFill>
              <a:srgbClr val="CFC7B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6"/>
          <p:cNvSpPr/>
          <p:nvPr/>
        </p:nvSpPr>
        <p:spPr>
          <a:xfrm>
            <a:off x="1977777" y="753517"/>
            <a:ext cx="1457325" cy="13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93"/>
              </a:lnSpc>
              <a:spcAft>
                <a:spcPts val="400"/>
              </a:spcAft>
              <a:buNone/>
            </a:pPr>
            <a:r>
              <a:rPr lang="en-US" sz="950" b="1" dirty="0">
                <a:solidFill>
                  <a:srgbClr val="8A64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 解決策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1977777" y="942975"/>
            <a:ext cx="1428750" cy="561826"/>
          </a:xfrm>
          <a:prstGeom prst="rect">
            <a:avLst/>
          </a:prstGeom>
          <a:noFill/>
          <a:ln/>
        </p:spPr>
        <p:txBody>
          <a:bodyPr wrap="square" lIns="63500" tIns="0" rIns="0" bIns="0" rtlCol="0" anchor="t"/>
          <a:lstStyle/>
          <a:p>
            <a:pPr algn="l" marL="63500" indent="-63500">
              <a:lnSpc>
                <a:spcPts val="886"/>
              </a:lnSpc>
              <a:buSzPct val="100000"/>
              <a:buChar char="•"/>
            </a:pPr>
            <a:r>
              <a:rPr lang="en-US" sz="720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予定を読み、準備・移動枠を追加</a:t>
            </a:r>
            <a:endParaRPr lang="en-US" sz="720" dirty="0"/>
          </a:p>
          <a:p>
            <a:pPr algn="l" marL="63500" indent="-63500">
              <a:lnSpc>
                <a:spcPts val="886"/>
              </a:lnSpc>
              <a:buSzPct val="100000"/>
              <a:buChar char="•"/>
            </a:pPr>
            <a:r>
              <a:rPr lang="en-US" sz="720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電話とAniccaナッジで身体を動かす</a:t>
            </a:r>
            <a:endParaRPr lang="en-US" sz="720" dirty="0"/>
          </a:p>
          <a:p>
            <a:pPr algn="l" marL="63500" indent="-63500">
              <a:lnSpc>
                <a:spcPts val="886"/>
              </a:lnSpc>
              <a:buSzPct val="100000"/>
              <a:buChar char="•"/>
            </a:pPr>
            <a:r>
              <a:rPr lang="en-US" sz="720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上限付き委任で予約・小額決済</a:t>
            </a:r>
            <a:endParaRPr lang="en-US" sz="720" dirty="0"/>
          </a:p>
        </p:txBody>
      </p:sp>
      <p:sp>
        <p:nvSpPr>
          <p:cNvPr id="11" name="Text 8"/>
          <p:cNvSpPr/>
          <p:nvPr/>
        </p:nvSpPr>
        <p:spPr>
          <a:xfrm>
            <a:off x="3555653" y="655141"/>
            <a:ext cx="1625501" cy="1549301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9525">
            <a:solidFill>
              <a:srgbClr val="CFC7B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9"/>
          <p:cNvSpPr/>
          <p:nvPr/>
        </p:nvSpPr>
        <p:spPr>
          <a:xfrm>
            <a:off x="3654028" y="753517"/>
            <a:ext cx="1457325" cy="13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93"/>
              </a:lnSpc>
              <a:spcAft>
                <a:spcPts val="400"/>
              </a:spcAft>
              <a:buNone/>
            </a:pPr>
            <a:r>
              <a:rPr lang="en-US" sz="950" b="1" dirty="0">
                <a:solidFill>
                  <a:srgbClr val="8A64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価値提案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3654028" y="942975"/>
            <a:ext cx="1457325" cy="1123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86"/>
              </a:lnSpc>
              <a:buNone/>
            </a:pPr>
            <a:r>
              <a:rPr lang="en-US" sz="720" b="1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開かなくても、人生が前に進む。</a:t>
            </a:r>
            <a:endParaRPr lang="en-US" sz="720" dirty="0"/>
          </a:p>
        </p:txBody>
      </p:sp>
      <p:sp>
        <p:nvSpPr>
          <p:cNvPr id="14" name="Text 11"/>
          <p:cNvSpPr/>
          <p:nvPr/>
        </p:nvSpPr>
        <p:spPr>
          <a:xfrm>
            <a:off x="3654028" y="1118741"/>
            <a:ext cx="1457325" cy="2247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86"/>
              </a:lnSpc>
              <a:spcBef>
                <a:spcPts val="500"/>
              </a:spcBef>
              <a:buNone/>
            </a:pPr>
            <a:r>
              <a:rPr lang="en-US" sz="720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意志力を要求せず、安全な範囲だけAIが実行する。</a:t>
            </a:r>
            <a:endParaRPr lang="en-US" sz="720" dirty="0"/>
          </a:p>
        </p:txBody>
      </p:sp>
      <p:sp>
        <p:nvSpPr>
          <p:cNvPr id="15" name="Text 12"/>
          <p:cNvSpPr/>
          <p:nvPr/>
        </p:nvSpPr>
        <p:spPr>
          <a:xfrm>
            <a:off x="5231904" y="655141"/>
            <a:ext cx="1625501" cy="1549301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9525">
            <a:solidFill>
              <a:srgbClr val="CFC7B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3"/>
          <p:cNvSpPr/>
          <p:nvPr/>
        </p:nvSpPr>
        <p:spPr>
          <a:xfrm>
            <a:off x="5330279" y="753517"/>
            <a:ext cx="1457325" cy="13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93"/>
              </a:lnSpc>
              <a:spcAft>
                <a:spcPts val="400"/>
              </a:spcAft>
              <a:buNone/>
            </a:pPr>
            <a:r>
              <a:rPr lang="en-US" sz="950" b="1" dirty="0">
                <a:solidFill>
                  <a:srgbClr val="8A64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 模倣困難性</a:t>
            </a:r>
            <a:endParaRPr lang="en-US" sz="950" dirty="0"/>
          </a:p>
        </p:txBody>
      </p:sp>
      <p:sp>
        <p:nvSpPr>
          <p:cNvPr id="17" name="Text 14"/>
          <p:cNvSpPr/>
          <p:nvPr/>
        </p:nvSpPr>
        <p:spPr>
          <a:xfrm>
            <a:off x="5330279" y="942975"/>
            <a:ext cx="1428750" cy="561826"/>
          </a:xfrm>
          <a:prstGeom prst="rect">
            <a:avLst/>
          </a:prstGeom>
          <a:noFill/>
          <a:ln/>
        </p:spPr>
        <p:txBody>
          <a:bodyPr wrap="square" lIns="63500" tIns="0" rIns="0" bIns="0" rtlCol="0" anchor="t"/>
          <a:lstStyle/>
          <a:p>
            <a:pPr algn="l" marL="63500" indent="-63500">
              <a:lnSpc>
                <a:spcPts val="886"/>
              </a:lnSpc>
              <a:buSzPct val="100000"/>
              <a:buChar char="•"/>
            </a:pPr>
            <a:r>
              <a:rPr lang="en-US" sz="720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実電話・予定・行動結果の閉ループ</a:t>
            </a:r>
            <a:endParaRPr lang="en-US" sz="720" dirty="0"/>
          </a:p>
          <a:p>
            <a:pPr algn="l" marL="63500" indent="-63500">
              <a:lnSpc>
                <a:spcPts val="886"/>
              </a:lnSpc>
              <a:buSzPct val="100000"/>
              <a:buChar char="•"/>
            </a:pPr>
            <a:r>
              <a:rPr lang="en-US" sz="720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Aniccaの行動変容データ</a:t>
            </a:r>
            <a:endParaRPr lang="en-US" sz="720" dirty="0"/>
          </a:p>
          <a:p>
            <a:pPr algn="l" marL="63500" indent="-63500">
              <a:lnSpc>
                <a:spcPts val="886"/>
              </a:lnSpc>
              <a:buSzPct val="100000"/>
              <a:buChar char="•"/>
            </a:pPr>
            <a:r>
              <a:rPr lang="en-US" sz="720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Life Managerを創業者自身が毎日利用</a:t>
            </a:r>
            <a:endParaRPr lang="en-US" sz="720" dirty="0"/>
          </a:p>
        </p:txBody>
      </p:sp>
      <p:sp>
        <p:nvSpPr>
          <p:cNvPr id="18" name="Text 15"/>
          <p:cNvSpPr/>
          <p:nvPr/>
        </p:nvSpPr>
        <p:spPr>
          <a:xfrm>
            <a:off x="6908155" y="655141"/>
            <a:ext cx="1625501" cy="1549301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9525">
            <a:solidFill>
              <a:srgbClr val="CFC7B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6"/>
          <p:cNvSpPr/>
          <p:nvPr/>
        </p:nvSpPr>
        <p:spPr>
          <a:xfrm>
            <a:off x="7006530" y="753517"/>
            <a:ext cx="1457325" cy="13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93"/>
              </a:lnSpc>
              <a:spcAft>
                <a:spcPts val="400"/>
              </a:spcAft>
              <a:buNone/>
            </a:pPr>
            <a:r>
              <a:rPr lang="en-US" sz="950" b="1" dirty="0">
                <a:solidFill>
                  <a:srgbClr val="8A64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顧客層</a:t>
            </a:r>
            <a:endParaRPr lang="en-US" sz="950" dirty="0"/>
          </a:p>
        </p:txBody>
      </p:sp>
      <p:sp>
        <p:nvSpPr>
          <p:cNvPr id="20" name="Text 17"/>
          <p:cNvSpPr/>
          <p:nvPr/>
        </p:nvSpPr>
        <p:spPr>
          <a:xfrm>
            <a:off x="7006530" y="942975"/>
            <a:ext cx="1457325" cy="2247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86"/>
              </a:lnSpc>
              <a:buNone/>
            </a:pPr>
            <a:r>
              <a:rPr lang="en-US" sz="720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グローバルの多忙な創業者・知識労働者。</a:t>
            </a:r>
            <a:endParaRPr lang="en-US" sz="720" dirty="0"/>
          </a:p>
        </p:txBody>
      </p:sp>
      <p:sp>
        <p:nvSpPr>
          <p:cNvPr id="21" name="Text 18"/>
          <p:cNvSpPr/>
          <p:nvPr/>
        </p:nvSpPr>
        <p:spPr>
          <a:xfrm>
            <a:off x="7006530" y="1231106"/>
            <a:ext cx="1457325" cy="2247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86"/>
              </a:lnSpc>
              <a:spcBef>
                <a:spcPts val="500"/>
              </a:spcBef>
              <a:buNone/>
            </a:pPr>
            <a:r>
              <a:rPr lang="en-US" sz="720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次に、注意散漫・先延ばし・生活管理に困る人。</a:t>
            </a:r>
            <a:endParaRPr lang="en-US" sz="720" dirty="0"/>
          </a:p>
        </p:txBody>
      </p:sp>
      <p:sp>
        <p:nvSpPr>
          <p:cNvPr id="22" name="Text 19"/>
          <p:cNvSpPr/>
          <p:nvPr/>
        </p:nvSpPr>
        <p:spPr>
          <a:xfrm>
            <a:off x="203150" y="2255193"/>
            <a:ext cx="1625501" cy="1549301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9525">
            <a:solidFill>
              <a:srgbClr val="CFC7B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0"/>
          <p:cNvSpPr/>
          <p:nvPr/>
        </p:nvSpPr>
        <p:spPr>
          <a:xfrm>
            <a:off x="301526" y="2353568"/>
            <a:ext cx="1457325" cy="13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93"/>
              </a:lnSpc>
              <a:spcAft>
                <a:spcPts val="400"/>
              </a:spcAft>
              <a:buNone/>
            </a:pPr>
            <a:r>
              <a:rPr lang="en-US" sz="950" b="1" dirty="0">
                <a:solidFill>
                  <a:srgbClr val="8A64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既存代替</a:t>
            </a:r>
            <a:endParaRPr lang="en-US" sz="950" dirty="0"/>
          </a:p>
        </p:txBody>
      </p:sp>
      <p:sp>
        <p:nvSpPr>
          <p:cNvPr id="24" name="Text 21"/>
          <p:cNvSpPr/>
          <p:nvPr/>
        </p:nvSpPr>
        <p:spPr>
          <a:xfrm>
            <a:off x="301526" y="2543026"/>
            <a:ext cx="1428750" cy="449461"/>
          </a:xfrm>
          <a:prstGeom prst="rect">
            <a:avLst/>
          </a:prstGeom>
          <a:noFill/>
          <a:ln/>
        </p:spPr>
        <p:txBody>
          <a:bodyPr wrap="square" lIns="63500" tIns="0" rIns="0" bIns="0" rtlCol="0" anchor="t"/>
          <a:lstStyle/>
          <a:p>
            <a:pPr algn="l" marL="63500" indent="-63500">
              <a:lnSpc>
                <a:spcPts val="886"/>
              </a:lnSpc>
              <a:buSzPct val="100000"/>
              <a:buChar char="•"/>
            </a:pPr>
            <a:r>
              <a:rPr lang="en-US" sz="720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Googleカレンダー</a:t>
            </a:r>
            <a:endParaRPr lang="en-US" sz="720" dirty="0"/>
          </a:p>
          <a:p>
            <a:pPr algn="l" marL="63500" indent="-63500">
              <a:lnSpc>
                <a:spcPts val="886"/>
              </a:lnSpc>
              <a:buSzPct val="100000"/>
              <a:buChar char="•"/>
            </a:pPr>
            <a:r>
              <a:rPr lang="en-US" sz="720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習慣・タスクアプリ</a:t>
            </a:r>
            <a:endParaRPr lang="en-US" sz="720" dirty="0"/>
          </a:p>
          <a:p>
            <a:pPr algn="l" marL="63500" indent="-63500">
              <a:lnSpc>
                <a:spcPts val="886"/>
              </a:lnSpc>
              <a:buSzPct val="100000"/>
              <a:buChar char="•"/>
            </a:pPr>
            <a:r>
              <a:rPr lang="en-US" sz="720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ChatGPT等の対話AI</a:t>
            </a:r>
            <a:endParaRPr lang="en-US" sz="720" dirty="0"/>
          </a:p>
          <a:p>
            <a:pPr algn="l" marL="63500" indent="-63500">
              <a:lnSpc>
                <a:spcPts val="886"/>
              </a:lnSpc>
              <a:buSzPct val="100000"/>
              <a:buChar char="•"/>
            </a:pPr>
            <a:r>
              <a:rPr lang="en-US" sz="720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人間の秘書</a:t>
            </a:r>
            <a:endParaRPr lang="en-US" sz="720" dirty="0"/>
          </a:p>
        </p:txBody>
      </p:sp>
      <p:sp>
        <p:nvSpPr>
          <p:cNvPr id="25" name="Text 22"/>
          <p:cNvSpPr/>
          <p:nvPr/>
        </p:nvSpPr>
        <p:spPr>
          <a:xfrm>
            <a:off x="301526" y="3043238"/>
            <a:ext cx="1457325" cy="2247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86"/>
              </a:lnSpc>
              <a:spcBef>
                <a:spcPts val="400"/>
              </a:spcBef>
              <a:buNone/>
            </a:pPr>
            <a:r>
              <a:rPr lang="en-US" sz="720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いずれも反応型、または高コスト。</a:t>
            </a:r>
            <a:endParaRPr lang="en-US" sz="720" dirty="0"/>
          </a:p>
        </p:txBody>
      </p:sp>
      <p:sp>
        <p:nvSpPr>
          <p:cNvPr id="26" name="Text 23"/>
          <p:cNvSpPr/>
          <p:nvPr/>
        </p:nvSpPr>
        <p:spPr>
          <a:xfrm>
            <a:off x="1879402" y="2255193"/>
            <a:ext cx="1625501" cy="1549301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9525">
            <a:solidFill>
              <a:srgbClr val="CFC7B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4"/>
          <p:cNvSpPr/>
          <p:nvPr/>
        </p:nvSpPr>
        <p:spPr>
          <a:xfrm>
            <a:off x="1977777" y="2353568"/>
            <a:ext cx="1457325" cy="13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93"/>
              </a:lnSpc>
              <a:spcAft>
                <a:spcPts val="400"/>
              </a:spcAft>
              <a:buNone/>
            </a:pPr>
            <a:r>
              <a:rPr lang="en-US" sz="950" b="1" dirty="0">
                <a:solidFill>
                  <a:srgbClr val="8A64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最初に作るもの</a:t>
            </a:r>
            <a:endParaRPr lang="en-US" sz="950" dirty="0"/>
          </a:p>
        </p:txBody>
      </p:sp>
      <p:sp>
        <p:nvSpPr>
          <p:cNvPr id="28" name="Text 25"/>
          <p:cNvSpPr/>
          <p:nvPr/>
        </p:nvSpPr>
        <p:spPr>
          <a:xfrm>
            <a:off x="1977777" y="2543026"/>
            <a:ext cx="1457325" cy="1123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86"/>
              </a:lnSpc>
              <a:buNone/>
            </a:pPr>
            <a:r>
              <a:rPr lang="en-US" sz="720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「Life Mandate」MVP。</a:t>
            </a:r>
            <a:endParaRPr lang="en-US" sz="720" dirty="0"/>
          </a:p>
        </p:txBody>
      </p:sp>
      <p:sp>
        <p:nvSpPr>
          <p:cNvPr id="29" name="Text 26"/>
          <p:cNvSpPr/>
          <p:nvPr/>
        </p:nvSpPr>
        <p:spPr>
          <a:xfrm>
            <a:off x="1977777" y="2706142"/>
            <a:ext cx="1428750" cy="449461"/>
          </a:xfrm>
          <a:prstGeom prst="rect">
            <a:avLst/>
          </a:prstGeom>
          <a:noFill/>
          <a:ln/>
        </p:spPr>
        <p:txBody>
          <a:bodyPr wrap="square" lIns="63500" tIns="0" rIns="0" bIns="0" rtlCol="0" anchor="t"/>
          <a:lstStyle/>
          <a:p>
            <a:pPr algn="l" marL="63500" indent="-63500">
              <a:lnSpc>
                <a:spcPts val="886"/>
              </a:lnSpc>
              <a:buSzPct val="100000"/>
              <a:buChar char="•"/>
            </a:pPr>
            <a:r>
              <a:rPr lang="en-US" sz="720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7日・50ドルの権限</a:t>
            </a:r>
            <a:endParaRPr lang="en-US" sz="720" dirty="0"/>
          </a:p>
          <a:p>
            <a:pPr algn="l" marL="63500" indent="-63500">
              <a:lnSpc>
                <a:spcPts val="886"/>
              </a:lnSpc>
              <a:buSzPct val="100000"/>
              <a:buChar char="•"/>
            </a:pPr>
            <a:r>
              <a:rPr lang="en-US" sz="720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交通・健康だけ許可</a:t>
            </a:r>
            <a:endParaRPr lang="en-US" sz="720" dirty="0"/>
          </a:p>
          <a:p>
            <a:pPr algn="l" marL="63500" indent="-63500">
              <a:lnSpc>
                <a:spcPts val="886"/>
              </a:lnSpc>
              <a:buSzPct val="100000"/>
              <a:buChar char="•"/>
            </a:pPr>
            <a:r>
              <a:rPr lang="en-US" sz="720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x402支払い</a:t>
            </a:r>
            <a:endParaRPr lang="en-US" sz="720" dirty="0"/>
          </a:p>
          <a:p>
            <a:pPr algn="l" marL="63500" indent="-63500">
              <a:lnSpc>
                <a:spcPts val="886"/>
              </a:lnSpc>
              <a:buSzPct val="100000"/>
              <a:buChar char="•"/>
            </a:pPr>
            <a:r>
              <a:rPr lang="en-US" sz="720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レシートと即時取消</a:t>
            </a:r>
            <a:endParaRPr lang="en-US" sz="720" dirty="0"/>
          </a:p>
        </p:txBody>
      </p:sp>
      <p:sp>
        <p:nvSpPr>
          <p:cNvPr id="30" name="Text 27"/>
          <p:cNvSpPr/>
          <p:nvPr/>
        </p:nvSpPr>
        <p:spPr>
          <a:xfrm>
            <a:off x="3555653" y="2255193"/>
            <a:ext cx="1625501" cy="1549301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9525">
            <a:solidFill>
              <a:srgbClr val="CFC7B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8"/>
          <p:cNvSpPr/>
          <p:nvPr/>
        </p:nvSpPr>
        <p:spPr>
          <a:xfrm>
            <a:off x="3654028" y="2353568"/>
            <a:ext cx="1457325" cy="13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93"/>
              </a:lnSpc>
              <a:spcAft>
                <a:spcPts val="400"/>
              </a:spcAft>
              <a:buNone/>
            </a:pPr>
            <a:r>
              <a:rPr lang="en-US" sz="950" b="1" dirty="0">
                <a:solidFill>
                  <a:srgbClr val="8A64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 高概念</a:t>
            </a:r>
            <a:endParaRPr lang="en-US" sz="950" dirty="0"/>
          </a:p>
        </p:txBody>
      </p:sp>
      <p:sp>
        <p:nvSpPr>
          <p:cNvPr id="32" name="Text 29"/>
          <p:cNvSpPr/>
          <p:nvPr/>
        </p:nvSpPr>
        <p:spPr>
          <a:xfrm>
            <a:off x="3654028" y="2543026"/>
            <a:ext cx="1457325" cy="1123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86"/>
              </a:lnSpc>
              <a:buNone/>
            </a:pPr>
            <a:r>
              <a:rPr lang="en-US" sz="720" b="1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自分専用のAI執行役。</a:t>
            </a:r>
            <a:endParaRPr lang="en-US" sz="720" dirty="0"/>
          </a:p>
        </p:txBody>
      </p:sp>
      <p:sp>
        <p:nvSpPr>
          <p:cNvPr id="33" name="Text 30"/>
          <p:cNvSpPr/>
          <p:nvPr/>
        </p:nvSpPr>
        <p:spPr>
          <a:xfrm>
            <a:off x="3654028" y="2718792"/>
            <a:ext cx="1457325" cy="2247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86"/>
              </a:lnSpc>
              <a:spcBef>
                <a:spcPts val="500"/>
              </a:spcBef>
              <a:buNone/>
            </a:pPr>
            <a:r>
              <a:rPr lang="en-US" sz="720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カレンダー×行動変容×プログラマブルな財布。</a:t>
            </a:r>
            <a:endParaRPr lang="en-US" sz="720" dirty="0"/>
          </a:p>
        </p:txBody>
      </p:sp>
      <p:sp>
        <p:nvSpPr>
          <p:cNvPr id="34" name="Text 31"/>
          <p:cNvSpPr/>
          <p:nvPr/>
        </p:nvSpPr>
        <p:spPr>
          <a:xfrm>
            <a:off x="5231904" y="2255193"/>
            <a:ext cx="1625501" cy="1549301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9525">
            <a:solidFill>
              <a:srgbClr val="CFC7B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32"/>
          <p:cNvSpPr/>
          <p:nvPr/>
        </p:nvSpPr>
        <p:spPr>
          <a:xfrm>
            <a:off x="5330279" y="2353568"/>
            <a:ext cx="1457325" cy="13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93"/>
              </a:lnSpc>
              <a:spcAft>
                <a:spcPts val="400"/>
              </a:spcAft>
              <a:buNone/>
            </a:pPr>
            <a:r>
              <a:rPr lang="en-US" sz="950" b="1" dirty="0">
                <a:solidFill>
                  <a:srgbClr val="8A64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検証仮説・指標</a:t>
            </a:r>
            <a:endParaRPr lang="en-US" sz="950" dirty="0"/>
          </a:p>
        </p:txBody>
      </p:sp>
      <p:sp>
        <p:nvSpPr>
          <p:cNvPr id="36" name="Text 33"/>
          <p:cNvSpPr/>
          <p:nvPr/>
        </p:nvSpPr>
        <p:spPr>
          <a:xfrm>
            <a:off x="5330279" y="2543026"/>
            <a:ext cx="1428750" cy="561826"/>
          </a:xfrm>
          <a:prstGeom prst="rect">
            <a:avLst/>
          </a:prstGeom>
          <a:noFill/>
          <a:ln/>
        </p:spPr>
        <p:txBody>
          <a:bodyPr wrap="square" lIns="63500" tIns="0" rIns="0" bIns="0" rtlCol="0" anchor="t"/>
          <a:lstStyle/>
          <a:p>
            <a:pPr algn="l" marL="63500" indent="-63500">
              <a:lnSpc>
                <a:spcPts val="886"/>
              </a:lnSpc>
              <a:buSzPct val="100000"/>
              <a:buChar char="•"/>
            </a:pPr>
            <a:r>
              <a:rPr lang="en-US" sz="720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先回り介入で遅刻率50%減</a:t>
            </a:r>
            <a:endParaRPr lang="en-US" sz="720" dirty="0"/>
          </a:p>
          <a:p>
            <a:pPr algn="l" marL="63500" indent="-63500">
              <a:lnSpc>
                <a:spcPts val="886"/>
              </a:lnSpc>
              <a:buSzPct val="100000"/>
              <a:buChar char="•"/>
            </a:pPr>
            <a:r>
              <a:rPr lang="en-US" sz="720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委任設定完了率60%</a:t>
            </a:r>
            <a:endParaRPr lang="en-US" sz="720" dirty="0"/>
          </a:p>
          <a:p>
            <a:pPr algn="l" marL="63500" indent="-63500">
              <a:lnSpc>
                <a:spcPts val="886"/>
              </a:lnSpc>
              <a:buSzPct val="100000"/>
              <a:buChar char="•"/>
            </a:pPr>
            <a:r>
              <a:rPr lang="en-US" sz="720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権限逸脱0件</a:t>
            </a:r>
            <a:endParaRPr lang="en-US" sz="720" dirty="0"/>
          </a:p>
          <a:p>
            <a:pPr algn="l" marL="63500" indent="-63500">
              <a:lnSpc>
                <a:spcPts val="886"/>
              </a:lnSpc>
              <a:buSzPct val="100000"/>
              <a:buChar char="•"/>
            </a:pPr>
            <a:r>
              <a:rPr lang="en-US" sz="720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週3回以上の実行</a:t>
            </a:r>
            <a:endParaRPr lang="en-US" sz="720" dirty="0"/>
          </a:p>
          <a:p>
            <a:pPr algn="l" marL="63500" indent="-63500">
              <a:lnSpc>
                <a:spcPts val="886"/>
              </a:lnSpc>
              <a:buSzPct val="100000"/>
              <a:buChar char="•"/>
            </a:pPr>
            <a:r>
              <a:rPr lang="en-US" sz="720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3か月継続率40%</a:t>
            </a:r>
            <a:endParaRPr lang="en-US" sz="720" dirty="0"/>
          </a:p>
        </p:txBody>
      </p:sp>
      <p:sp>
        <p:nvSpPr>
          <p:cNvPr id="37" name="Text 34"/>
          <p:cNvSpPr/>
          <p:nvPr/>
        </p:nvSpPr>
        <p:spPr>
          <a:xfrm>
            <a:off x="6908155" y="2255193"/>
            <a:ext cx="1625501" cy="1549301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9525">
            <a:solidFill>
              <a:srgbClr val="CFC7B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Text 35"/>
          <p:cNvSpPr/>
          <p:nvPr/>
        </p:nvSpPr>
        <p:spPr>
          <a:xfrm>
            <a:off x="7006530" y="2353568"/>
            <a:ext cx="1457325" cy="13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93"/>
              </a:lnSpc>
              <a:spcAft>
                <a:spcPts val="400"/>
              </a:spcAft>
              <a:buNone/>
            </a:pPr>
            <a:r>
              <a:rPr lang="en-US" sz="950" b="1" dirty="0">
                <a:solidFill>
                  <a:srgbClr val="8A64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初期顧客</a:t>
            </a:r>
            <a:endParaRPr lang="en-US" sz="950" dirty="0"/>
          </a:p>
        </p:txBody>
      </p:sp>
      <p:sp>
        <p:nvSpPr>
          <p:cNvPr id="39" name="Text 36"/>
          <p:cNvSpPr/>
          <p:nvPr/>
        </p:nvSpPr>
        <p:spPr>
          <a:xfrm>
            <a:off x="7006530" y="2543026"/>
            <a:ext cx="1457325" cy="337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86"/>
              </a:lnSpc>
              <a:buNone/>
            </a:pPr>
            <a:r>
              <a:rPr lang="en-US" sz="720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AIツールを既に使い、遅刻・予定過多に強い痛みがあり、月20ドルを払える英語圏・日本の創業者。</a:t>
            </a:r>
            <a:endParaRPr lang="en-US" sz="720" dirty="0"/>
          </a:p>
        </p:txBody>
      </p:sp>
      <p:sp>
        <p:nvSpPr>
          <p:cNvPr id="40" name="Text 37"/>
          <p:cNvSpPr/>
          <p:nvPr/>
        </p:nvSpPr>
        <p:spPr>
          <a:xfrm>
            <a:off x="7006530" y="2968972"/>
            <a:ext cx="1457325" cy="13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93"/>
              </a:lnSpc>
              <a:spcBef>
                <a:spcPts val="700"/>
              </a:spcBef>
              <a:spcAft>
                <a:spcPts val="400"/>
              </a:spcAft>
              <a:buNone/>
            </a:pPr>
            <a:r>
              <a:rPr lang="en-US" sz="950" b="1" dirty="0">
                <a:solidFill>
                  <a:srgbClr val="8A64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販売経路</a:t>
            </a:r>
            <a:endParaRPr lang="en-US" sz="950" dirty="0"/>
          </a:p>
        </p:txBody>
      </p:sp>
      <p:sp>
        <p:nvSpPr>
          <p:cNvPr id="41" name="Text 38"/>
          <p:cNvSpPr/>
          <p:nvPr/>
        </p:nvSpPr>
        <p:spPr>
          <a:xfrm>
            <a:off x="7006530" y="3158430"/>
            <a:ext cx="1457325" cy="2247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86"/>
              </a:lnSpc>
              <a:buNone/>
            </a:pPr>
            <a:r>
              <a:rPr lang="en-US" sz="720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創業者コミュニティ、研究室、OSS、実演動画。</a:t>
            </a:r>
            <a:endParaRPr lang="en-US" sz="720" dirty="0"/>
          </a:p>
        </p:txBody>
      </p:sp>
      <p:sp>
        <p:nvSpPr>
          <p:cNvPr id="42" name="Text 39"/>
          <p:cNvSpPr/>
          <p:nvPr/>
        </p:nvSpPr>
        <p:spPr>
          <a:xfrm>
            <a:off x="203150" y="3867894"/>
            <a:ext cx="2768501" cy="1123206"/>
          </a:xfrm>
          <a:prstGeom prst="roundRect">
            <a:avLst>
              <a:gd name="adj" fmla="val 4523"/>
            </a:avLst>
          </a:prstGeom>
          <a:solidFill>
            <a:srgbClr val="1A1A1A"/>
          </a:solidFill>
          <a:ln w="9525">
            <a:solidFill>
              <a:srgbClr val="3A342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3" name="Text 40"/>
          <p:cNvSpPr/>
          <p:nvPr/>
        </p:nvSpPr>
        <p:spPr>
          <a:xfrm>
            <a:off x="301526" y="3966270"/>
            <a:ext cx="2623185" cy="13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93"/>
              </a:lnSpc>
              <a:spcAft>
                <a:spcPts val="400"/>
              </a:spcAft>
              <a:buNone/>
            </a:pPr>
            <a:r>
              <a:rPr lang="en-US" sz="950" b="1" dirty="0">
                <a:solidFill>
                  <a:srgbClr val="E6C4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レバレッジ</a:t>
            </a:r>
            <a:endParaRPr lang="en-US" sz="950" dirty="0"/>
          </a:p>
        </p:txBody>
      </p:sp>
      <p:sp>
        <p:nvSpPr>
          <p:cNvPr id="44" name="Text 41"/>
          <p:cNvSpPr/>
          <p:nvPr/>
        </p:nvSpPr>
        <p:spPr>
          <a:xfrm>
            <a:off x="301526" y="4155728"/>
            <a:ext cx="2623185" cy="337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86"/>
              </a:lnSpc>
              <a:buNone/>
            </a:pPr>
            <a:r>
              <a:rPr lang="en-US" sz="720" dirty="0">
                <a:solidFill>
                  <a:srgbClr val="F5F1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電話・Telegram・カレンダーの既存本番基盤に、スマートアカウントとx402を追加。OSS版→クラウド版へ展開し、国ごとのカード契約なしでグローバルなサービス購入へ。</a:t>
            </a:r>
            <a:endParaRPr lang="en-US" sz="720" dirty="0"/>
          </a:p>
        </p:txBody>
      </p:sp>
      <p:sp>
        <p:nvSpPr>
          <p:cNvPr id="45" name="Text 42"/>
          <p:cNvSpPr/>
          <p:nvPr/>
        </p:nvSpPr>
        <p:spPr>
          <a:xfrm>
            <a:off x="3022402" y="3867894"/>
            <a:ext cx="2768501" cy="1123206"/>
          </a:xfrm>
          <a:prstGeom prst="roundRect">
            <a:avLst>
              <a:gd name="adj" fmla="val 4523"/>
            </a:avLst>
          </a:prstGeom>
          <a:solidFill>
            <a:srgbClr val="1A1A1A"/>
          </a:solidFill>
          <a:ln w="9525">
            <a:solidFill>
              <a:srgbClr val="3A342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6" name="Text 43"/>
          <p:cNvSpPr/>
          <p:nvPr/>
        </p:nvSpPr>
        <p:spPr>
          <a:xfrm>
            <a:off x="3120777" y="3966270"/>
            <a:ext cx="2623185" cy="13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93"/>
              </a:lnSpc>
              <a:spcAft>
                <a:spcPts val="400"/>
              </a:spcAft>
              <a:buNone/>
            </a:pPr>
            <a:r>
              <a:rPr lang="en-US" sz="950" b="1" dirty="0">
                <a:solidFill>
                  <a:srgbClr val="E6C4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注目獲得</a:t>
            </a:r>
            <a:endParaRPr lang="en-US" sz="950" dirty="0"/>
          </a:p>
        </p:txBody>
      </p:sp>
      <p:sp>
        <p:nvSpPr>
          <p:cNvPr id="47" name="Text 44"/>
          <p:cNvSpPr/>
          <p:nvPr/>
        </p:nvSpPr>
        <p:spPr>
          <a:xfrm>
            <a:off x="3120777" y="4155728"/>
            <a:ext cx="2623185" cy="337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86"/>
              </a:lnSpc>
              <a:buNone/>
            </a:pPr>
            <a:r>
              <a:rPr lang="en-US" sz="720" dirty="0">
                <a:solidFill>
                  <a:srgbClr val="F5F1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「7日・50ドルだけAIに任せる」公開デモを軸に、X・GitHub・大学/創業者コミュニティで検証過程を公開。フォロワー購入や無関係な宣伝は行わない。</a:t>
            </a:r>
            <a:endParaRPr lang="en-US" sz="720" dirty="0"/>
          </a:p>
        </p:txBody>
      </p:sp>
      <p:sp>
        <p:nvSpPr>
          <p:cNvPr id="48" name="Text 45"/>
          <p:cNvSpPr/>
          <p:nvPr/>
        </p:nvSpPr>
        <p:spPr>
          <a:xfrm>
            <a:off x="5841653" y="3867894"/>
            <a:ext cx="2768501" cy="1123206"/>
          </a:xfrm>
          <a:prstGeom prst="roundRect">
            <a:avLst>
              <a:gd name="adj" fmla="val 4523"/>
            </a:avLst>
          </a:prstGeom>
          <a:solidFill>
            <a:srgbClr val="1A1A1A"/>
          </a:solidFill>
          <a:ln w="9525">
            <a:solidFill>
              <a:srgbClr val="3A342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9" name="Text 46"/>
          <p:cNvSpPr/>
          <p:nvPr/>
        </p:nvSpPr>
        <p:spPr>
          <a:xfrm>
            <a:off x="5940028" y="3966270"/>
            <a:ext cx="2623185" cy="13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93"/>
              </a:lnSpc>
              <a:spcAft>
                <a:spcPts val="400"/>
              </a:spcAft>
              <a:buNone/>
            </a:pPr>
            <a:r>
              <a:rPr lang="en-US" sz="950" b="1" dirty="0">
                <a:solidFill>
                  <a:srgbClr val="E6C4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トラクション</a:t>
            </a:r>
            <a:endParaRPr lang="en-US" sz="950" dirty="0"/>
          </a:p>
        </p:txBody>
      </p:sp>
      <p:sp>
        <p:nvSpPr>
          <p:cNvPr id="50" name="Text 47"/>
          <p:cNvSpPr/>
          <p:nvPr/>
        </p:nvSpPr>
        <p:spPr>
          <a:xfrm>
            <a:off x="5940028" y="4155728"/>
            <a:ext cx="2623185" cy="4494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86"/>
              </a:lnSpc>
              <a:buNone/>
            </a:pPr>
            <a:r>
              <a:rPr lang="en-US" sz="720" dirty="0">
                <a:solidFill>
                  <a:srgbClr val="F5F1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Life Manager：本番クラウド、実電話、移動枠挿入、Telegramを稼働。内部テスト3プロフィール（全て創業者テスト）。外部有料ユーザー0。Anicca iOS：公開ダッシュボード上の月次経常収益27ドル。</a:t>
            </a:r>
            <a:endParaRPr lang="en-US" sz="72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Anicca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Anicca Life Manager Hackathon Canvas</dc:title>
  <dc:subject>PptxGenJS Presentation</dc:subject>
  <dc:creator>Daisuke Narita</dc:creator>
  <cp:lastModifiedBy>Daisuke Narita</cp:lastModifiedBy>
  <cp:revision>1</cp:revision>
  <dcterms:created xsi:type="dcterms:W3CDTF">2026-07-22T12:20:59Z</dcterms:created>
  <dcterms:modified xsi:type="dcterms:W3CDTF">2026-07-22T12:20:59Z</dcterms:modified>
</cp:coreProperties>
</file>